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8" r:id="rId2"/>
    <p:sldId id="269" r:id="rId3"/>
    <p:sldId id="258" r:id="rId4"/>
    <p:sldId id="259" r:id="rId5"/>
    <p:sldId id="260" r:id="rId6"/>
    <p:sldId id="270" r:id="rId7"/>
    <p:sldId id="262" r:id="rId8"/>
    <p:sldId id="257" r:id="rId9"/>
    <p:sldId id="263" r:id="rId10"/>
    <p:sldId id="266" r:id="rId11"/>
    <p:sldId id="271" r:id="rId12"/>
    <p:sldId id="267" r:id="rId13"/>
    <p:sldId id="264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52" autoAdjust="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40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rotWithShape="1">
          <a:gsLst>
            <a:gs pos="0">
              <a:schemeClr val="accent1">
                <a:lumMod val="75000"/>
              </a:schemeClr>
            </a:gs>
            <a:gs pos="77000">
              <a:srgbClr val="102A44"/>
            </a:gs>
            <a:gs pos="100000">
              <a:srgbClr val="0C334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35294" b="17647"/>
          <a:stretch>
            <a:fillRect/>
          </a:stretch>
        </p:blipFill>
        <p:spPr>
          <a:xfrm>
            <a:off x="579120" y="502920"/>
            <a:ext cx="1554480" cy="7315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502920"/>
            <a:ext cx="1188720" cy="88696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kern="0" spc="300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CAPSTONE</a:t>
            </a:r>
            <a:endParaRPr lang="es-MX" sz="1600" noProof="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26974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5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Easy Office</a:t>
            </a:r>
            <a:endParaRPr lang="es-MX" sz="5400" noProof="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800" i="1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hoy para escalar mañana</a:t>
            </a:r>
            <a:endParaRPr lang="es-MX" sz="1800" noProof="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5120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</a:t>
            </a:r>
            <a:endParaRPr lang="es-MX" sz="1500" noProof="0" dirty="0"/>
          </a:p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Fernández</a:t>
            </a:r>
            <a:endParaRPr lang="es-MX" sz="1500" noProof="0" dirty="0"/>
          </a:p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Dunkan Hernández</a:t>
            </a:r>
            <a:endParaRPr lang="es-MX" sz="1500" noProof="0" dirty="0"/>
          </a:p>
        </p:txBody>
      </p:sp>
      <p:sp>
        <p:nvSpPr>
          <p:cNvPr id="8" name="Text 4"/>
          <p:cNvSpPr txBox="1"/>
          <p:nvPr/>
        </p:nvSpPr>
        <p:spPr>
          <a:xfrm>
            <a:off x="6858000" y="5120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Fabián Alcántara Guajardo</a:t>
            </a:r>
            <a:endParaRPr lang="es-MX" sz="1300" noProof="0" dirty="0"/>
          </a:p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· Sede San Bernardo</a:t>
            </a:r>
            <a:endParaRPr lang="es-MX" sz="1300" noProof="0" dirty="0"/>
          </a:p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2026</a:t>
            </a:r>
            <a:endParaRPr lang="es-MX" sz="1300" noProof="0" dirty="0"/>
          </a:p>
        </p:txBody>
      </p:sp>
    </p:spTree>
    <p:extLst>
      <p:ext uri="{BB962C8B-B14F-4D97-AF65-F5344CB8AC3E}">
        <p14:creationId xmlns:p14="http://schemas.microsoft.com/office/powerpoint/2010/main" val="3952193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¿Por qué este proyecto?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Relevancia, competencias y motivación profesional del equipo.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20440" cy="502920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889760" y="164592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Relevancia laboral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Un CRM que automatiza documentos y firma electrónica es exactamente el tipo de proyecto que hoy piden empresas de servicios profesionales, contables y legales que buscan digitalizarse. Da experiencia real en levantamiento con cliente, integración de </a:t>
            </a:r>
            <a:r>
              <a:rPr lang="es-MX" sz="1100" b="0" i="0" noProof="0" dirty="0" err="1">
                <a:solidFill>
                  <a:srgbClr val="5B5B5B"/>
                </a:solidFill>
                <a:latin typeface="Calibri"/>
              </a:rPr>
              <a:t>APIs</a:t>
            </a:r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 externas y diseño de sistemas para pymes.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780" y="1463040"/>
            <a:ext cx="3520440" cy="507492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5692140" y="1649541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noProof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508715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Competencias del perfil de egreso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6324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Ingeniería de requisitos, aplicada en el levantamiento con Easy Office. Diseño y generación de soluciones de software, en la arquitectura del CRM. Bases de datos, en el modelo de clientes y trámites. Evaluación y gestión de proyectos, en la planificación de los Sprint.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39"/>
            <a:ext cx="3520440" cy="5074919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3" name="Oval 12"/>
          <p:cNvSpPr/>
          <p:nvPr/>
        </p:nvSpPr>
        <p:spPr>
          <a:xfrm>
            <a:off x="9608820" y="1649541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58200" y="252184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Intereses profesionales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4995" y="2962855"/>
            <a:ext cx="3063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Diego: Me interesa el desarrollo de software y la automatización de procesos, más que liderar o coordinar personas. En este proyecto me tocó asumir el rol de contacto con el cliente, lo que fue un desafío distinto a lo que naturalmente disfruto hacer.
Andrés: Me motivan el análisis de requisitos y la gestión de proyectos y calidad; lidero el levantamiento con Easy Office y valido que la solución cumpla lo acordado con el cliente.
Dunkan: Me interesa desarrollar soluciones, optimizaciones y automatizaciones para diversas problemáticas que se presenten en el día a día laboral y disfruto de transformar datos dispersos en modelos claros y consultables, optimizando el funcionamiento, almacenamiento y rendimiento para así generar valor real a partir de decisiones informadas.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 es Easy Office?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s-MX" sz="14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emprendimiento y red de oficinas equipadas que provee servicios digitales para la creación, activación y operación de trámites y emprendimientos 100% digitales: domicilio tributario, contabilidad, firmas electrónicas y creación de empresas.</a:t>
            </a:r>
            <a:endParaRPr lang="es-MX" sz="145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6492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Matriz: Región de Valparaíso  ·  Sucursal: Región Metropolitana</a:t>
            </a:r>
            <a:endParaRPr lang="es-MX" sz="1200" noProof="0" dirty="0"/>
          </a:p>
          <a:p>
            <a:pPr marL="0" indent="0">
              <a:buNone/>
            </a:pPr>
            <a:r>
              <a:rPr lang="es-MX" sz="120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www.easyoffice.cl</a:t>
            </a:r>
            <a:endParaRPr lang="es-MX" sz="1200" noProof="0" dirty="0"/>
          </a:p>
        </p:txBody>
      </p:sp>
      <p:sp>
        <p:nvSpPr>
          <p:cNvPr id="5" name="Shape 3"/>
          <p:cNvSpPr/>
          <p:nvPr/>
        </p:nvSpPr>
        <p:spPr>
          <a:xfrm>
            <a:off x="7406640" y="1188720"/>
            <a:ext cx="4206240" cy="1554480"/>
          </a:xfrm>
          <a:prstGeom prst="roundRect">
            <a:avLst>
              <a:gd name="adj" fmla="val 5882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32588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4000" b="1" noProof="0" dirty="0">
                <a:solidFill>
                  <a:srgbClr val="1FA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5.000+</a:t>
            </a:r>
            <a:endParaRPr lang="es-MX" sz="40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325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Emprendimientos</a:t>
            </a:r>
            <a:endParaRPr lang="es-MX" sz="1300" noProof="0" dirty="0"/>
          </a:p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exitosos</a:t>
            </a:r>
            <a:endParaRPr lang="es-MX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7406640" y="3017520"/>
            <a:ext cx="4206240" cy="1554480"/>
          </a:xfrm>
          <a:prstGeom prst="roundRect">
            <a:avLst>
              <a:gd name="adj" fmla="val 5882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315468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4000" b="1" noProof="0" dirty="0">
                <a:solidFill>
                  <a:srgbClr val="1FA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15+</a:t>
            </a:r>
            <a:endParaRPr lang="es-MX" sz="40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9601200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de</a:t>
            </a:r>
            <a:endParaRPr lang="es-MX" sz="1300" noProof="0" dirty="0"/>
          </a:p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s-MX" sz="13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Servicios: domicilio tributario · contabilidad y tributaria · firmas electrónicas · creación de empresas · rebaja tributaria</a:t>
            </a:r>
            <a:endParaRPr lang="es-MX" sz="13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problema: operación 100% manual</a:t>
            </a:r>
            <a:endParaRPr lang="es-MX" sz="3200" noProof="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4" name="Shape 2"/>
          <p:cNvSpPr/>
          <p:nvPr/>
        </p:nvSpPr>
        <p:spPr>
          <a:xfrm>
            <a:off x="157734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157734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MX" sz="20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manuales</a:t>
            </a:r>
            <a:endParaRPr lang="es-MX" sz="14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y seguimiento se gestionan por WhatsApp, sin flujo digital único.</a:t>
            </a:r>
            <a:endParaRPr lang="es-MX" sz="1150" noProof="0" dirty="0"/>
          </a:p>
        </p:txBody>
      </p:sp>
      <p:sp>
        <p:nvSpPr>
          <p:cNvPr id="8" name="Shape 6"/>
          <p:cNvSpPr/>
          <p:nvPr/>
        </p:nvSpPr>
        <p:spPr>
          <a:xfrm>
            <a:off x="347472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9" name="Shape 7"/>
          <p:cNvSpPr/>
          <p:nvPr/>
        </p:nvSpPr>
        <p:spPr>
          <a:xfrm>
            <a:off x="450342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5034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20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</a:t>
            </a:r>
            <a:endParaRPr lang="es-MX" sz="14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registro de qué ejecutivo realizó qué acción ni cuándo.</a:t>
            </a:r>
            <a:endParaRPr lang="es-MX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pPr algn="ctr"/>
            <a:endParaRPr lang="es-MX" dirty="0">
              <a:solidFill>
                <a:srgbClr val="D60093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20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seguridad en los datos</a:t>
            </a:r>
            <a:endParaRPr lang="es-MX" sz="14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 clientes sin control de acceso ni respaldo centralizado.</a:t>
            </a:r>
            <a:endParaRPr lang="es-MX" sz="1150" noProof="0" dirty="0"/>
          </a:p>
        </p:txBody>
      </p:sp>
      <p:sp>
        <p:nvSpPr>
          <p:cNvPr id="18" name="Shape 16"/>
          <p:cNvSpPr/>
          <p:nvPr/>
        </p:nvSpPr>
        <p:spPr>
          <a:xfrm>
            <a:off x="932688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9" name="Shape 17"/>
          <p:cNvSpPr/>
          <p:nvPr/>
        </p:nvSpPr>
        <p:spPr>
          <a:xfrm>
            <a:off x="1035558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103555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200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Cobranza y venta manual</a:t>
            </a:r>
            <a:endParaRPr lang="es-MX" sz="1400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955548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cobro y firma poco integrados; limita la escalabilidad.</a:t>
            </a:r>
            <a:endParaRPr lang="es-MX" sz="1150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6198524" y="2743200"/>
            <a:ext cx="2059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400" b="1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400" dirty="0">
              <a:solidFill>
                <a:srgbClr val="D60093"/>
              </a:solidFill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900" noProof="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4DFB8E1-E375-EA9C-A3C5-757E9067DD09}"/>
              </a:ext>
            </a:extLst>
          </p:cNvPr>
          <p:cNvSpPr txBox="1"/>
          <p:nvPr/>
        </p:nvSpPr>
        <p:spPr>
          <a:xfrm>
            <a:off x="3246120" y="2893963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>
              <a:solidFill>
                <a:srgbClr val="D60093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FE7A15E-29D2-72A8-3D1A-BB8E8A05EC7E}"/>
              </a:ext>
            </a:extLst>
          </p:cNvPr>
          <p:cNvSpPr txBox="1"/>
          <p:nvPr/>
        </p:nvSpPr>
        <p:spPr>
          <a:xfrm>
            <a:off x="9121140" y="2893963"/>
            <a:ext cx="205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>
              <a:solidFill>
                <a:srgbClr val="D60093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del proyecto</a:t>
            </a:r>
            <a:endParaRPr lang="es-MX" sz="3200" noProof="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29844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 implementar un ecosistema digital (CRM) que centralice la gestión de clientes de Easy Office y automatice la venta, la generación y firma electrónica de documentos, y el seguimiento operativo.</a:t>
            </a:r>
            <a:endParaRPr lang="es-MX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594360" y="2560320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04872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la generación y firma electrónica del contrato de prestación de servicios y su autorización de domicilio tributario.</a:t>
            </a:r>
            <a:endParaRPr lang="es-MX" sz="1350" noProof="0" dirty="0"/>
          </a:p>
        </p:txBody>
      </p:sp>
      <p:sp>
        <p:nvSpPr>
          <p:cNvPr id="7" name="Shape 5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63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la información de clientes en una base de datos única y accesible para el equipo operativo.</a:t>
            </a:r>
            <a:endParaRPr lang="es-MX" sz="1350" noProof="0" dirty="0"/>
          </a:p>
        </p:txBody>
      </p:sp>
      <p:sp>
        <p:nvSpPr>
          <p:cNvPr id="9" name="Shape 7"/>
          <p:cNvSpPr/>
          <p:nvPr/>
        </p:nvSpPr>
        <p:spPr>
          <a:xfrm>
            <a:off x="594360" y="3877056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21608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la trazabilidad de cada gestión realizada por los ejecutivos.</a:t>
            </a:r>
            <a:endParaRPr lang="es-MX" sz="1350" noProof="0" dirty="0"/>
          </a:p>
        </p:txBody>
      </p:sp>
      <p:sp>
        <p:nvSpPr>
          <p:cNvPr id="11" name="Shape 9"/>
          <p:cNvSpPr/>
          <p:nvPr/>
        </p:nvSpPr>
        <p:spPr>
          <a:xfrm>
            <a:off x="594360" y="4535424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379976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roles y permisos de acceso (administrador / operador).</a:t>
            </a:r>
            <a:endParaRPr lang="es-MX" sz="1350" noProof="0" dirty="0"/>
          </a:p>
        </p:txBody>
      </p:sp>
      <p:sp>
        <p:nvSpPr>
          <p:cNvPr id="13" name="Shape 11"/>
          <p:cNvSpPr/>
          <p:nvPr/>
        </p:nvSpPr>
        <p:spPr>
          <a:xfrm>
            <a:off x="594360" y="5193792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038344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un MVP funcional desplegable en un servidor local (Docker).</a:t>
            </a:r>
            <a:endParaRPr lang="es-MX" sz="135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MVP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Priorizado junto al cliente: el contrato y la autorización de domicilio tributario son los procesos de mayor flujo.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EAF3D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noProof="0" dirty="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el MVP</a:t>
            </a:r>
            <a:endParaRPr lang="es-MX" sz="16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Módulo de clientes centralizado</a:t>
            </a:r>
            <a:endParaRPr lang="es-MX" sz="13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Contrato + autorización de domicilio tributario automatizados</a:t>
            </a:r>
            <a:endParaRPr lang="es-MX" sz="13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Firma electrónica integrada</a:t>
            </a:r>
            <a:endParaRPr lang="es-MX" sz="13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69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Trazabilidad de ejecutivo</a:t>
            </a:r>
            <a:endParaRPr lang="es-MX" sz="13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617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Roles y permisos (</a:t>
            </a:r>
            <a:r>
              <a:rPr lang="es-MX" sz="1300" noProof="0" dirty="0" err="1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operador)</a:t>
            </a:r>
            <a:endParaRPr lang="es-MX" sz="13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66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Despliegue en servidor local (Docker)</a:t>
            </a:r>
            <a:endParaRPr lang="es-MX" sz="1300" noProof="0" dirty="0"/>
          </a:p>
        </p:txBody>
      </p:sp>
      <p:sp>
        <p:nvSpPr>
          <p:cNvPr id="12" name="Shape 10"/>
          <p:cNvSpPr/>
          <p:nvPr/>
        </p:nvSpPr>
        <p:spPr>
          <a:xfrm>
            <a:off x="6172200" y="169164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FAEEDA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1874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noProof="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</a:t>
            </a:r>
            <a:r>
              <a:rPr lang="es-MX" sz="1600" b="1" noProof="0" dirty="0" err="1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s-MX" sz="1600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423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Ampliación a 10 documentos (declaraciones juradas, poderes, etc.)</a:t>
            </a:r>
            <a:endParaRPr lang="es-MX" sz="13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2004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Automatización completa de creación de empresa (requiere revisión legal caso a caso)</a:t>
            </a:r>
            <a:endParaRPr lang="es-MX" sz="13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977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s-MX" sz="1300" noProof="0" dirty="0" err="1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clasificación con IA para WhatsApp (fase futura; requiere número empresarial aprobado por Meta - queda fuera del proyecto actual)</a:t>
            </a:r>
            <a:endParaRPr lang="es-MX" sz="13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7548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Migración a infraestructura Cloud (considerado para fase futura, queda fuera del proyecto actual)</a:t>
            </a:r>
            <a:endParaRPr lang="es-MX" sz="130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Prototipo inicial: flujo de compra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clic a la entrega del documento firmado, en 5 pasos.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5" name="Shape 3"/>
          <p:cNvSpPr/>
          <p:nvPr/>
        </p:nvSpPr>
        <p:spPr>
          <a:xfrm>
            <a:off x="1330452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1330452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MX" sz="20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s-MX" sz="135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elige el servicio</a:t>
            </a:r>
            <a:endParaRPr lang="es-MX" sz="105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10" name="Shape 8"/>
          <p:cNvSpPr/>
          <p:nvPr/>
        </p:nvSpPr>
        <p:spPr>
          <a:xfrm>
            <a:off x="2862072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1" name="Shape 9"/>
          <p:cNvSpPr/>
          <p:nvPr/>
        </p:nvSpPr>
        <p:spPr>
          <a:xfrm>
            <a:off x="3552444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3552444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20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Ingresar datos</a:t>
            </a:r>
            <a:endParaRPr lang="es-MX" sz="1350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3026664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RUT, correo, teléfono</a:t>
            </a:r>
            <a:endParaRPr lang="es-MX" sz="105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16" name="Shape 14"/>
          <p:cNvSpPr/>
          <p:nvPr/>
        </p:nvSpPr>
        <p:spPr>
          <a:xfrm>
            <a:off x="5084064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7" name="Shape 15"/>
          <p:cNvSpPr/>
          <p:nvPr/>
        </p:nvSpPr>
        <p:spPr>
          <a:xfrm>
            <a:off x="5774436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5774436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20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5221224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</a:t>
            </a:r>
            <a:endParaRPr lang="es-MX" sz="1350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5248656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línea seguro</a:t>
            </a:r>
            <a:endParaRPr lang="es-MX" sz="105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7050024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22" name="Shape 20"/>
          <p:cNvSpPr/>
          <p:nvPr/>
        </p:nvSpPr>
        <p:spPr>
          <a:xfrm>
            <a:off x="7306056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3" name="Shape 21"/>
          <p:cNvSpPr/>
          <p:nvPr/>
        </p:nvSpPr>
        <p:spPr>
          <a:xfrm>
            <a:off x="7996428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7996428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200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7443216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documento</a:t>
            </a:r>
            <a:endParaRPr lang="es-MX" sz="1350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/ autorización generados automáticamente</a:t>
            </a:r>
            <a:endParaRPr lang="es-MX" sz="1050" noProof="0" dirty="0"/>
          </a:p>
        </p:txBody>
      </p:sp>
      <p:sp>
        <p:nvSpPr>
          <p:cNvPr id="27" name="Text 25"/>
          <p:cNvSpPr txBox="1"/>
          <p:nvPr/>
        </p:nvSpPr>
        <p:spPr>
          <a:xfrm>
            <a:off x="9272016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28" name="Shape 26"/>
          <p:cNvSpPr/>
          <p:nvPr/>
        </p:nvSpPr>
        <p:spPr>
          <a:xfrm>
            <a:off x="9528048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9" name="Shape 27"/>
          <p:cNvSpPr/>
          <p:nvPr/>
        </p:nvSpPr>
        <p:spPr>
          <a:xfrm>
            <a:off x="10218420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30" name="Text 28"/>
          <p:cNvSpPr txBox="1"/>
          <p:nvPr/>
        </p:nvSpPr>
        <p:spPr>
          <a:xfrm>
            <a:off x="10218420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MX" sz="2000" noProof="0" dirty="0"/>
          </a:p>
        </p:txBody>
      </p:sp>
      <p:sp>
        <p:nvSpPr>
          <p:cNvPr id="31" name="Text 29"/>
          <p:cNvSpPr txBox="1"/>
          <p:nvPr/>
        </p:nvSpPr>
        <p:spPr>
          <a:xfrm>
            <a:off x="9665208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firmado</a:t>
            </a:r>
            <a:endParaRPr lang="es-MX" sz="1350" noProof="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electrónica y entrega inmediata</a:t>
            </a:r>
            <a:endParaRPr lang="es-MX" sz="1050" noProof="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5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confirmada por el cliente: contrato + autorización de domicilio tributario (mayor flujo).</a:t>
            </a:r>
            <a:endParaRPr lang="es-MX" sz="1250" noProof="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5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Trabajamos con Scrum: entregas incrementales cada sprint, validadas directamente con el cliente.</a:t>
            </a:r>
            <a:endParaRPr lang="es-MX" sz="15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9" name="Image Diego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660" y="2240280"/>
            <a:ext cx="914400" cy="914400"/>
          </a:xfrm>
          <a:prstGeom prst="rect">
            <a:avLst/>
          </a:prstGeom>
        </p:spPr>
      </p:pic>
      <p:sp>
        <p:nvSpPr>
          <p:cNvPr id="7" name="Text 5"/>
          <p:cNvSpPr txBox="1"/>
          <p:nvPr/>
        </p:nvSpPr>
        <p:spPr>
          <a:xfrm>
            <a:off x="77724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</a:t>
            </a:r>
            <a:endParaRPr lang="es-MX" sz="16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proyecto</a:t>
            </a:r>
            <a:endParaRPr lang="es-MX" sz="1250" noProof="0" dirty="0"/>
          </a:p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</a:t>
            </a:r>
            <a:r>
              <a:rPr lang="es-MX" sz="1250" b="1" noProof="0" dirty="0" err="1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s-MX" sz="125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al equipo, es el punto de contacto con el cliente y desarrolla la lógica de negocio y la API, construye la interfaz del CRM y del e-</a:t>
            </a:r>
            <a:r>
              <a:rPr lang="es-MX" sz="11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</a:t>
            </a:r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compra/firma de documentos. </a:t>
            </a:r>
            <a:endParaRPr lang="es-MX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38912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2140" y="2240280"/>
            <a:ext cx="91440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1772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Fernández</a:t>
            </a:r>
            <a:endParaRPr lang="es-MX" sz="1600" noProof="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Levantamiento documental</a:t>
            </a:r>
            <a:endParaRPr lang="es-MX" sz="1250" noProof="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criterios de aceptación y consolida la documentación formal.</a:t>
            </a:r>
            <a:endParaRPr lang="es-MX" sz="1100" noProof="0" dirty="0"/>
          </a:p>
        </p:txBody>
      </p:sp>
      <p:sp>
        <p:nvSpPr>
          <p:cNvPr id="15" name="Shape 12"/>
          <p:cNvSpPr/>
          <p:nvPr/>
        </p:nvSpPr>
        <p:spPr>
          <a:xfrm>
            <a:off x="822960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8" name="Image Duncan" descr="dunc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2620" y="2240280"/>
            <a:ext cx="914400" cy="914400"/>
          </a:xfrm>
          <a:prstGeom prst="rect">
            <a:avLst/>
          </a:prstGeom>
        </p:spPr>
      </p:pic>
      <p:sp>
        <p:nvSpPr>
          <p:cNvPr id="16" name="Text 15"/>
          <p:cNvSpPr txBox="1"/>
          <p:nvPr/>
        </p:nvSpPr>
        <p:spPr>
          <a:xfrm>
            <a:off x="845820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Dunkan Hernández</a:t>
            </a:r>
            <a:endParaRPr lang="es-MX" sz="1600" noProof="0" dirty="0"/>
          </a:p>
        </p:txBody>
      </p:sp>
      <p:sp>
        <p:nvSpPr>
          <p:cNvPr id="5" name="Text 16"/>
          <p:cNvSpPr txBox="1"/>
          <p:nvPr/>
        </p:nvSpPr>
        <p:spPr>
          <a:xfrm>
            <a:off x="845820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Desarrollo </a:t>
            </a:r>
            <a:r>
              <a:rPr lang="es-MX" sz="1250" b="1" noProof="0" dirty="0" err="1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s-MX" sz="1250" noProof="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 ejecuta el plan de pruebas.</a:t>
            </a:r>
            <a:endParaRPr lang="es-MX" sz="1100" noProof="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del período académico, organizadas en 3 fases y 4 </a:t>
            </a:r>
            <a:r>
              <a:rPr lang="es-MX" sz="14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desarrollo.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458720" cy="822960"/>
          </a:xfrm>
          <a:prstGeom prst="rect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7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Definición</a:t>
            </a:r>
            <a:endParaRPr lang="es-MX" sz="12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27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s-MX" sz="1100" noProof="0" dirty="0"/>
          </a:p>
        </p:txBody>
      </p:sp>
      <p:sp>
        <p:nvSpPr>
          <p:cNvPr id="7" name="Shape 5"/>
          <p:cNvSpPr/>
          <p:nvPr/>
        </p:nvSpPr>
        <p:spPr>
          <a:xfrm>
            <a:off x="3007360" y="2194560"/>
            <a:ext cx="7376160" cy="822960"/>
          </a:xfrm>
          <a:prstGeom prst="rect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3098800" y="2240280"/>
            <a:ext cx="719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Desarrollo (4 </a:t>
            </a:r>
            <a:r>
              <a:rPr lang="es-MX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MX" sz="12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3098800" y="2606040"/>
            <a:ext cx="719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S16</a:t>
            </a:r>
            <a:endParaRPr lang="es-MX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10383520" y="2194560"/>
            <a:ext cx="1229360" cy="82296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10474960" y="2240280"/>
            <a:ext cx="1046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Cierre</a:t>
            </a:r>
            <a:endParaRPr lang="es-MX" sz="12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10474960" y="2606040"/>
            <a:ext cx="104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 – S18</a:t>
            </a:r>
            <a:endParaRPr lang="es-MX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s-MX" sz="14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S5–S7</a:t>
            </a:r>
            <a:endParaRPr lang="es-MX" sz="11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+ clientes + </a:t>
            </a:r>
            <a:r>
              <a:rPr lang="es-MX" sz="1200" noProof="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r>
              <a:rPr lang="es-MX" sz="1200" noProof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</a:t>
            </a:r>
          </a:p>
          <a:p>
            <a:pPr marL="0" indent="0">
              <a:buNone/>
            </a:pPr>
            <a:r>
              <a:rPr lang="es-MX" sz="1000" b="1" noProof="0">
                <a:solidFill>
                  <a:srgbClr val="0E7A34"/>
                </a:solidFill>
                <a:latin typeface="Calibri"/>
              </a:rPr>
              <a:t>Hito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: base de datos de clientes operativa.</a:t>
            </a:r>
          </a:p>
        </p:txBody>
      </p:sp>
      <p:sp>
        <p:nvSpPr>
          <p:cNvPr id="17" name="Shape 15"/>
          <p:cNvSpPr/>
          <p:nvPr/>
        </p:nvSpPr>
        <p:spPr>
          <a:xfrm>
            <a:off x="338328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s-MX" sz="14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S8–S10</a:t>
            </a:r>
            <a:endParaRPr lang="es-MX" sz="1100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+ firma electrónica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contrato </a:t>
            </a:r>
            <a:r>
              <a:rPr lang="es-MX" sz="1000" b="1" noProof="0" dirty="0" err="1">
                <a:solidFill>
                  <a:srgbClr val="0E7A34"/>
                </a:solidFill>
                <a:latin typeface="Calibri"/>
              </a:rPr>
              <a:t>firmable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 de extremo a extremo.</a:t>
            </a:r>
          </a:p>
        </p:txBody>
      </p:sp>
      <p:sp>
        <p:nvSpPr>
          <p:cNvPr id="21" name="Shape 19"/>
          <p:cNvSpPr/>
          <p:nvPr/>
        </p:nvSpPr>
        <p:spPr>
          <a:xfrm>
            <a:off x="621792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s-MX" sz="1400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S11–S13</a:t>
            </a:r>
            <a:endParaRPr lang="es-MX" sz="1100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+ roles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acceso diferenciado </a:t>
            </a:r>
            <a:r>
              <a:rPr lang="es-MX" sz="1000" b="1" noProof="0" dirty="0" err="1">
                <a:solidFill>
                  <a:srgbClr val="0E7A34"/>
                </a:solidFill>
                <a:latin typeface="Calibri"/>
              </a:rPr>
              <a:t>admin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/operador funcionando.</a:t>
            </a:r>
          </a:p>
        </p:txBody>
      </p:sp>
      <p:sp>
        <p:nvSpPr>
          <p:cNvPr id="25" name="Shape 23"/>
          <p:cNvSpPr/>
          <p:nvPr/>
        </p:nvSpPr>
        <p:spPr>
          <a:xfrm>
            <a:off x="905256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s-MX" sz="1400" noProof="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S14–S16</a:t>
            </a:r>
            <a:endParaRPr lang="es-MX" sz="1100" noProof="0" dirty="0"/>
          </a:p>
        </p:txBody>
      </p:sp>
      <p:sp>
        <p:nvSpPr>
          <p:cNvPr id="28" name="Text 26"/>
          <p:cNvSpPr txBox="1"/>
          <p:nvPr/>
        </p:nvSpPr>
        <p:spPr>
          <a:xfrm>
            <a:off x="923544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+ Docker + manual técnico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MVP desplegado y documentado.</a:t>
            </a:r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Factibilidad y plan de recursos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El proyecto es viable dentro del plazo del ramo, con riesgos identificados y mitigados.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48590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18 semanas del período académico, alineadas con el alcance acotado del MVP (2 documentos priorizados).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427482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2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Recursos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Entorno de desarrollo, computador dedicado para despliegue local (Docker), y acceso a la plataforma de firma electrónica del cliente.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3" name="Oval 12"/>
          <p:cNvSpPr/>
          <p:nvPr/>
        </p:nvSpPr>
        <p:spPr>
          <a:xfrm>
            <a:off x="706374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6364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Facilitadores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Easy Office ya cuenta con proveedor de firma electrónica con integración vía API disponible, lo que reduce la incertidumbre técnica.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7" name="Oval 16"/>
          <p:cNvSpPr/>
          <p:nvPr/>
        </p:nvSpPr>
        <p:spPr>
          <a:xfrm>
            <a:off x="985266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4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Obstaculizadores y mitigación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El cliente no maneja mucha tecnología: se mitiga con reuniones bisemanales y una interfaz simple y guiada.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Innovación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Qué problema resuelve, qué diferencia a la solución y qué valor agrega.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48590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problema resuelve?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Hoy la venta y el seguimiento de los servicios de Easy Office (domicilio tributario, firma electrónica, contabilidad) se gestionan por WhatsApp: sin flujo digital único, sin trazabilidad de qué ejecutivo hizo qué gestión, y sin una base de datos centralizada de clientes.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202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566928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2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6918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la hace diferente?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918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En el mercado, los proveedores de domicilio tributario o firma electrónica suelen resolver un solo trámite de forma aislada. Easy Office ya ofrece varios servicios relacionados, pero hoy los gestiona por separado y a mano vía WhatsApp. El CRM los centraliza en un mismo flujo y una misma base de datos por cliente, con trazabilidad por ejecutivo, lista para escalar a los demás trámites manuales.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7" name="Oval 16"/>
          <p:cNvSpPr/>
          <p:nvPr/>
        </p:nvSpPr>
        <p:spPr>
          <a:xfrm>
            <a:off x="985266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valor agrega?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Documento firmado en minutos en vez de gestión manual por WhatsApp; trazabilidad de cada gestión por ejecutivo; datos centralizados; y una base (roles, clientes) lista para escalar a los demás documentos que hoy son 100% manuales.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Evidencias del proyecto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13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lang="es-MX" sz="1300" noProof="0" dirty="0">
                <a:solidFill>
                  <a:srgbClr val="FFFFFF"/>
                </a:solidFill>
                <a:latin typeface="Calibri"/>
              </a:rPr>
              <a:t>Documentos que respaldan el avance y el cierre del proyecto, exigidos por la asignatura para el enfoque ágil.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176272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960119" y="2075688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Inicio de Proyecto - problema, objetivos, stakeholders, alcance del MVP y restricciones.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43200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960119" y="2642616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Product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Backlog priorizado - historias de usuario obtenidas del levantamiento con el cliente.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310128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960119" y="3209544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diseño - arquitectura, modelo de datos, diagramas UML y diseño Docker.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877056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960119" y="3776472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Definition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</a:t>
            </a:r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of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Done - criterios de aceptación a nivel de historia e incremento, incluyendo despliegue.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443984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960119" y="4343400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Plan de pruebas + evidencias - casos de prueba y resultados por sprint.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010912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960119" y="4910328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Manual técnico / despliegue - instalación, Docker </a:t>
            </a:r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Compose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y variables de entorno.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577840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960119" y="5477256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cierre - incluye la sección de innovación del proyecto.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1">
                <a:lumMod val="75000"/>
              </a:schemeClr>
            </a:gs>
            <a:gs pos="77000">
              <a:srgbClr val="102A44"/>
            </a:gs>
            <a:gs pos="100000">
              <a:srgbClr val="0C334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914400"/>
            <a:ext cx="1828800" cy="13533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Automatizar hoy para escalar mañana</a:t>
            </a:r>
            <a:endParaRPr lang="es-MX" sz="3400" noProof="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i="1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atención - preguntas y comentarios</a:t>
            </a:r>
            <a:endParaRPr lang="es-MX" sz="1600" noProof="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 · Andrés Fernández · Dunkan Hernández</a:t>
            </a:r>
            <a:endParaRPr lang="es-MX" sz="12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DCA8A9B-56FF-4541-AF96-DBEB0B10370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c26fc0c-0e9f-45c2-8b80-bdb2f27ad20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1537</Words>
  <Application>Microsoft Office PowerPoint</Application>
  <PresentationFormat>Panorámica</PresentationFormat>
  <Paragraphs>194</Paragraphs>
  <Slides>13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Diego Eduardo Navarrete Valderrama</cp:lastModifiedBy>
  <cp:revision>8</cp:revision>
  <dcterms:created xsi:type="dcterms:W3CDTF">2026-09-01T19:54:13Z</dcterms:created>
  <dcterms:modified xsi:type="dcterms:W3CDTF">2026-09-03T04:24:57Z</dcterms:modified>
</cp:coreProperties>
</file>